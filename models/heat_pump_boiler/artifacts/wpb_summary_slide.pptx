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2937"/>
                </a:solidFill>
              </a:defRPr>
            </a:pPr>
            <a:r>
              <a:t>Wärmepumpenboiler: method, and what the public register can confirm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B7280"/>
                </a:solidFill>
              </a:defRPr>
            </a:pPr>
            <a:r>
              <a:t>Label-free physical detection on 15-min grid import, canton Aargau · January/July 2026 pair · compared against BFS GWR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70432"/>
            <a:ext cx="4114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0F766E"/>
                </a:solidFill>
              </a:defRPr>
            </a:pPr>
            <a:r>
              <a:t>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81328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  <a:r>
              <a:t>• Per meter-month: 10th percentile (p10) of consumption across all valid days, per 15-min slot.</a:t>
            </a:r>
          </a:p>
          <a:p>
            <a:pPr lvl="1">
              <a:spcAft>
                <a:spcPts val="400"/>
              </a:spcAft>
              <a:defRPr sz="1150">
                <a:solidFill>
                  <a:srgbClr val="6B7280"/>
                </a:solidFill>
              </a:defRPr>
            </a:pPr>
            <a:r>
              <a:t>– a load must repeat on ≥90% of days to lift p10 → timer regularity is enforced structurally</a:t>
            </a:r>
          </a:p>
          <a:p>
            <a:pPr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  <a:r>
              <a:t>• Find plateaus ≥0.25 kW above the meter's quietest rolling hour, wrapping midnight.</a:t>
            </a:r>
          </a:p>
          <a:p>
            <a:pPr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  <a:r>
              <a:t>• WPB candidate only if amplitude 0.25–1.20 kW and duration 1.5–9 h.</a:t>
            </a:r>
          </a:p>
          <a:p>
            <a:pPr lvl="1">
              <a:spcAft>
                <a:spcPts val="400"/>
              </a:spcAft>
              <a:defRPr sz="1150">
                <a:solidFill>
                  <a:srgbClr val="6B7280"/>
                </a:solidFill>
              </a:defRPr>
            </a:pPr>
            <a:r>
              <a:t>– bands come from device physics (COP≈3 vs. a resistance boiler), not fit to labels</a:t>
            </a:r>
          </a:p>
          <a:p>
            <a:pPr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  <a:r>
              <a:t>• Require a matching plateau in BOTH January and July, similar amplitude and start time.</a:t>
            </a:r>
          </a:p>
          <a:p>
            <a:pPr lvl="1">
              <a:spcAft>
                <a:spcPts val="400"/>
              </a:spcAft>
              <a:defRPr sz="1150">
                <a:solidFill>
                  <a:srgbClr val="6B7280"/>
                </a:solidFill>
              </a:defRPr>
            </a:pPr>
            <a:r>
              <a:t>– rejects seasonal confounders: dehumidifiers, floor heating, part-load space heat pumps</a:t>
            </a:r>
          </a:p>
          <a:p>
            <a:pPr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  <a:r>
              <a:t>• Score = 0.5 + amplitude-ratio + start-time-similarity; flagged at ≥0.8.</a:t>
            </a:r>
          </a:p>
          <a:p>
            <a:pPr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  <a:r>
              <a:t>• No supervised classifier: 4 labelled positives, zero confirmed negatives.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170432"/>
            <a:ext cx="6949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0F766E"/>
                </a:solidFill>
              </a:defRPr>
            </a:pPr>
            <a:r>
              <a:t>CLASSIFIED vs. EXPECTED FROM THE PUBLIC REGISTER</a:t>
            </a:r>
          </a:p>
        </p:txBody>
      </p:sp>
      <p:pic>
        <p:nvPicPr>
          <p:cNvPr id="7" name="Picture 6" descr="wpb_gwr_expected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444752"/>
            <a:ext cx="7086600" cy="247468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46320" y="4114800"/>
            <a:ext cx="69951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• GWR has no Wärmepumpenboiler code. GWAERZW1=7610 is plain "Wärmepumpe"; 96% of those buildings also have a heat pump for space heating — one machine, not a WPB.</a:t>
            </a:r>
          </a:p>
          <a:p>
            <a:pPr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• Restricting to hot-water heat pump AND space heating that is not a heat pump leaves 0.62% of buildings, against 1.15% of meters flagged — the same order of magnitude.</a:t>
            </a:r>
          </a:p>
          <a:p>
            <a:pPr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• Not a validation. The register count is a lower bound (a WPB behind a space-heating heat pump is absorbed into the 96%), buildings are not meters, and the rank correlation is only ρ=+0.27 (p=0.033) on postcodes with ≥100 meters, ρ=+0.12 (p=0.30) at ≥30.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