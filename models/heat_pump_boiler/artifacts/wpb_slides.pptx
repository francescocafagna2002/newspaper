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Finding the Wärmepumpenboiler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1089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B7280"/>
                </a:solidFill>
              </a:defRPr>
            </a:pPr>
            <a:r>
              <a:t>A physical, interpretable search for a small daily hot-water load in four years of 15-minute meter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The device, and why it is not the heat pump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A Wärmepumpenboiler heats a 200–300 L hot-water tank, not the house.</a:t>
            </a:r>
          </a:p>
          <a:p>
            <a:pPr lvl="1">
              <a:spcAft>
                <a:spcPts val="700"/>
              </a:spcAft>
              <a:defRPr sz="1500">
                <a:solidFill>
                  <a:srgbClr val="6B7280"/>
                </a:solidFill>
              </a:defRPr>
            </a:pPr>
            <a:r>
              <a:t>– WPB: 0.3–1.0 kW, 3–8 h, ~2 kWh/day, flat across the year</a:t>
            </a:r>
          </a:p>
          <a:p>
            <a:pPr lvl="1">
              <a:spcAft>
                <a:spcPts val="700"/>
              </a:spcAft>
              <a:defRPr sz="1500">
                <a:solidFill>
                  <a:srgbClr val="6B7280"/>
                </a:solidFill>
              </a:defRPr>
            </a:pPr>
            <a:r>
              <a:t>– Resistance Elektroboiler: 2–4 kW, ~1–2 h, ~7 kWh/day</a:t>
            </a:r>
          </a:p>
          <a:p>
            <a:pPr lvl="1">
              <a:spcAft>
                <a:spcPts val="700"/>
              </a:spcAft>
              <a:defRPr sz="1500">
                <a:solidFill>
                  <a:srgbClr val="6B7280"/>
                </a:solidFill>
              </a:defRPr>
            </a:pPr>
            <a:r>
              <a:t>– Space heat pump: many cycles/day, tracks heating degree-days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Same hot water, different power — the ratio is roughly the COP.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Why it matters: ~2 kWh/day of shiftable load on a tank that is already a thermal store.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F766E"/>
                </a:solidFill>
              </a:defRPr>
            </a:pPr>
            <a:r>
              <a:t>The amplitude split is physics, not a fitted threshold.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The constraint that shaped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10 households in GIGI are flagged Wärmepumpenboiler. 4 have meter data.</a:t>
            </a:r>
          </a:p>
          <a:p>
            <a:pPr lvl="1">
              <a:spcAft>
                <a:spcPts val="700"/>
              </a:spcAft>
              <a:defRPr sz="1500">
                <a:solidFill>
                  <a:srgbClr val="6B7280"/>
                </a:solidFill>
              </a:defRPr>
            </a:pPr>
            <a:r>
              <a:t>– '-' in the column means 'row is about another asset', never 'no WPB'</a:t>
            </a:r>
          </a:p>
          <a:p>
            <a:pPr lvl="1">
              <a:spcAft>
                <a:spcPts val="700"/>
              </a:spcAft>
              <a:defRPr sz="1500">
                <a:solidFill>
                  <a:srgbClr val="6B7280"/>
                </a:solidFill>
              </a:defRPr>
            </a:pPr>
            <a:r>
              <a:t>– → zero confirmed negatives, so no supervised classifier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So: a rule-based physical detector, validated without labels.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F766E"/>
                </a:solidFill>
              </a:defRPr>
            </a:pPr>
            <a:r>
              <a:t>Reported as a sensitivity study, not an accuracy number.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Method — the p10 'always-on' envelope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Per meter-month, take per-slot quantiles across all days.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Run detection on the 10th percentile, not the mean.</a:t>
            </a:r>
          </a:p>
          <a:p>
            <a:pPr lvl="1">
              <a:spcAft>
                <a:spcPts val="700"/>
              </a:spcAft>
              <a:defRPr sz="1500">
                <a:solidFill>
                  <a:srgbClr val="6B7280"/>
                </a:solidFill>
              </a:defRPr>
            </a:pPr>
            <a:r>
              <a:t>– a load must appear on ≥90% of days to lift p10</a:t>
            </a:r>
          </a:p>
          <a:p>
            <a:pPr lvl="1">
              <a:spcAft>
                <a:spcPts val="700"/>
              </a:spcAft>
              <a:defRPr sz="1500">
                <a:solidFill>
                  <a:srgbClr val="6B7280"/>
                </a:solidFill>
              </a:defRPr>
            </a:pPr>
            <a:r>
              <a:t>– → once-a-day timer regularity is enforced structurally</a:t>
            </a:r>
          </a:p>
          <a:p>
            <a:pPr lvl="1">
              <a:spcAft>
                <a:spcPts val="700"/>
              </a:spcAft>
              <a:defRPr sz="1500">
                <a:solidFill>
                  <a:srgbClr val="6B7280"/>
                </a:solidFill>
              </a:defRPr>
            </a:pPr>
            <a:r>
              <a:t>– → an EV charged a few nights a week cannot produce a plateau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Plateau = contiguous run ≥0.25 kW above the quietest rolling hour, wrapping midnight.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Confirm in BOTH a summer and a winter month.</a:t>
            </a:r>
          </a:p>
          <a:p>
            <a:pPr lvl="1">
              <a:spcAft>
                <a:spcPts val="700"/>
              </a:spcAft>
              <a:defRPr sz="1500">
                <a:solidFill>
                  <a:srgbClr val="6B7280"/>
                </a:solidFill>
              </a:defRPr>
            </a:pPr>
            <a:r>
              <a:t>– dehumidifier, floor heating, part-load heat pump: all seasonal</a:t>
            </a:r>
          </a:p>
          <a:p>
            <a:pPr lvl="1">
              <a:spcAft>
                <a:spcPts val="700"/>
              </a:spcAft>
              <a:defRPr sz="1500">
                <a:solidFill>
                  <a:srgbClr val="6B7280"/>
                </a:solidFill>
              </a:defRPr>
            </a:pPr>
            <a:r>
              <a:t>– a WPB tracks cold-water inlet temperature, not degree-days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</a:defRPr>
            </a:pPr>
            <a:r>
              <a:t>Evidence: the labelled households</a:t>
            </a:r>
          </a:p>
        </p:txBody>
      </p:sp>
      <p:pic>
        <p:nvPicPr>
          <p:cNvPr id="3" name="Picture 2" descr="wpb_labelled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94233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Median day profile (solid) with the p10 always-on envelope (dashed). Dotted line = the 0.125 kWh/slot a 0.5 kW WPB adds.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</a:defRPr>
            </a:pPr>
            <a:r>
              <a:t>Go/no-go: can a 0.5 kW plateau be seen at all?</a:t>
            </a:r>
          </a:p>
        </p:txBody>
      </p:sp>
      <p:pic>
        <p:nvPicPr>
          <p:cNvPr id="3" name="Picture 2" descr="wpb_noise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Night-load noise floor per meter against the step a WPB makes. If the floor sits above the line, nothing else works.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</a:defRPr>
            </a:pPr>
            <a:r>
              <a:t>Is the population bimodal?</a:t>
            </a:r>
          </a:p>
        </p:txBody>
      </p:sp>
      <p:pic>
        <p:nvPicPr>
          <p:cNvPr id="3" name="Picture 2" descr="wpb_amplitud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Plateau amplitude across all meters. Two clusters near 0.5 kW and 3 kW would be the WPB / resistance split showing itself.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</a:defRPr>
            </a:pPr>
            <a:r>
              <a:t>Validation without labels: counterfactual retrofit</a:t>
            </a:r>
          </a:p>
        </p:txBody>
      </p:sp>
      <p:pic>
        <p:nvPicPr>
          <p:cNvPr id="3" name="Picture 2" descr="wpb_detec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Take a real resistance boiler's daily event, hold its energy fixed, trade power for duration — the Elektroboiler→WPB swap — add it to an unlabelled household, and see if we find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Population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838 of 75,094 mapped households flagged in the latest pair.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87,860 meters scored; 863 flagged at score ≥ 0.8 (1.0%).</a:t>
            </a:r>
          </a:p>
          <a:p>
            <a:pPr lvl="1">
              <a:spcAft>
                <a:spcPts val="700"/>
              </a:spcAft>
              <a:defRPr sz="1500">
                <a:solidFill>
                  <a:srgbClr val="6B7280"/>
                </a:solidFill>
              </a:defRPr>
            </a:pPr>
            <a:r>
              <a:t>– median amplitude 0.39 kW (band 0.25–1.2 kW)</a:t>
            </a:r>
          </a:p>
          <a:p>
            <a:pPr lvl="1">
              <a:spcAft>
                <a:spcPts val="700"/>
              </a:spcAft>
              <a:defRPr sz="1500">
                <a:solidFill>
                  <a:srgbClr val="6B7280"/>
                </a:solidFill>
              </a:defRPr>
            </a:pPr>
            <a:r>
              <a:t>– median 1.36 kWh/day (a WPB tank is ~1.5–2.5)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Labelled WPB households score 0.00–0.35.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Every row carries its evidence: amplitude, duration, start time, kWh/day, and why.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F766E"/>
                </a:solidFill>
              </a:defRPr>
            </a:pPr>
            <a:r>
              <a:t>Inspectable evidence, not a black-box label.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External comparison does not confirm the flags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Across 72 postcodes with ≥30 meters, Spearman ρ = -0.12 (p = 0.30).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The GWR field covers all hot-water heat pumps, including combined space-heating systems; it is a broader ecological comparator.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The weak association is inconclusive and provides no accuracy claim.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What we are not claiming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No accuracy figure — 4 positives and no confirmed negatives.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A PV-controlled WPB can run at midday and be invisible in grid import.</a:t>
            </a:r>
          </a:p>
          <a:p>
            <a:pPr lvl="1">
              <a:spcAft>
                <a:spcPts val="700"/>
              </a:spcAft>
              <a:defRPr sz="1500">
                <a:solidFill>
                  <a:srgbClr val="6B7280"/>
                </a:solidFill>
              </a:defRPr>
            </a:pPr>
            <a:r>
              <a:t>– GIGI is ~9:1 PV-skewed, so this creates selection bias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None of the four labelled meters passes the year-round threshold.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Detected duration is a lower bound: start jitter erodes the p10 core.</a:t>
            </a:r>
          </a:p>
          <a:p>
            <a:pPr>
              <a:spcAft>
                <a:spcPts val="700"/>
              </a:spcAft>
              <a:defRPr sz="1800">
                <a:solidFill>
                  <a:srgbClr val="1F2937"/>
                </a:solidFill>
              </a:defRPr>
            </a:pPr>
            <a:r>
              <a:t>• Next: 4-year change detection finds the install date; the Elektroboiler→WPB swap is the most legible fingerprint in the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