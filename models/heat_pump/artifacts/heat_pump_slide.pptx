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111A"/>
                </a:solidFill>
              </a:rPr>
              <a:t>Heat-pump classifier — most important feature and performance</a:t>
            </a:r>
          </a:p>
          <a:p>
            <a:r>
              <a:rPr sz="1200">
                <a:solidFill>
                  <a:srgbClr val="52514E"/>
                </a:solidFill>
              </a:rPr>
              <a:t>H21_hgb_compact · held-out test, 67 properties (21 heat-pump-labelled) · threshold 0.72 frozen on validation</a:t>
            </a:r>
          </a:p>
        </p:txBody>
      </p:sp>
      <p:pic>
        <p:nvPicPr>
          <p:cNvPr id="3" name="Picture 2" descr="fig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5669280" cy="372046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138928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1111A"/>
                </a:solidFill>
              </a:rPr>
              <a:t>Top feature: evening_share — permuting it costs 0.047 accuracy points (±0.031), more than any seasonality or meter feature.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577840"/>
            <a:ext cx="6035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950">
                <a:solidFill>
                  <a:srgbClr val="2A78D6"/>
                </a:solidFill>
              </a:rPr>
              <a:t>Known gaps vs the plan</a:t>
            </a:r>
          </a:p>
          <a:p>
            <a:r>
              <a:rPr sz="850">
                <a:solidFill>
                  <a:srgbClr val="11111A"/>
                </a:solidFill>
              </a:rPr>
              <a:t>•  Temperature coupling (daily import vs heating-degree-days) is not implemented: it needs per-household daily series, and neither train_property_sequences.csv nor load_property_daily.csv exists in this checkout.</a:t>
            </a:r>
          </a:p>
          <a:p>
            <a:r>
              <a:rPr sz="850">
                <a:solidFill>
                  <a:srgbClr val="11111A"/>
                </a:solidFill>
              </a:rPr>
              <a:t>•  The WPB boiler-detector score contributes little — it flags only 2 of 342 households.</a:t>
            </a:r>
          </a:p>
          <a:p>
            <a:r>
              <a:rPr sz="850">
                <a:solidFill>
                  <a:srgbClr val="11111A"/>
                </a:solidFill>
              </a:rPr>
              <a:t>•  Both are documented in models/heat_pump/README.md, not papered over.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146304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2A78D6"/>
                </a:solidFill>
              </a:rPr>
              <a:t>76.1%</a:t>
            </a:r>
          </a:p>
          <a:p>
            <a:r>
              <a:rPr sz="1000">
                <a:solidFill>
                  <a:srgbClr val="52514E"/>
                </a:solidFill>
              </a:rPr>
              <a:t>accuracy on the sealed test 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146304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2A78D6"/>
                </a:solidFill>
              </a:rPr>
              <a:t>68.7%</a:t>
            </a:r>
          </a:p>
          <a:p>
            <a:r>
              <a:rPr sz="1000">
                <a:solidFill>
                  <a:srgbClr val="52514E"/>
                </a:solidFill>
              </a:rPr>
              <a:t>majority-class baseline (predict 'no heat pump')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5160" y="2697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1111A"/>
                </a:solidFill>
              </a:rPr>
              <a:t>Confusion matrix — held-out test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949440" y="3063240"/>
          <a:ext cx="4206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371600"/>
                <a:gridCol w="1371600"/>
              </a:tblGrid>
              <a:tr h="609600"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1111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predicted: no HP</a:t>
                      </a:r>
                    </a:p>
                  </a:txBody>
                  <a:tcPr>
                    <a:solidFill>
                      <a:srgbClr val="1111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predicted: HP</a:t>
                      </a:r>
                    </a:p>
                  </a:txBody>
                  <a:tcPr>
                    <a:solidFill>
                      <a:srgbClr val="11111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1111A"/>
                          </a:solidFill>
                        </a:rPr>
                        <a:t>actual: no HP</a:t>
                      </a:r>
                    </a:p>
                  </a:txBody>
                  <a:tcPr>
                    <a:solidFill>
                      <a:srgbClr val="D8D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A78D6"/>
                          </a:solidFill>
                        </a:rPr>
                        <a:t>44  (TN)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1111A"/>
                          </a:solidFill>
                        </a:rPr>
                        <a:t>2  (FP)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1111A"/>
                          </a:solidFill>
                        </a:rPr>
                        <a:t>actual: HP</a:t>
                      </a:r>
                    </a:p>
                  </a:txBody>
                  <a:tcPr>
                    <a:solidFill>
                      <a:srgbClr val="D8D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1111A"/>
                          </a:solidFill>
                        </a:rPr>
                        <a:t>14  (FN)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A78D6"/>
                          </a:solidFill>
                        </a:rPr>
                        <a:t>7  (TP)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949440" y="502920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1111A"/>
                </a:solidFill>
              </a:rPr>
              <a:t>•  Validation accuracy 71.6%; the model recovers 7 of 21 labelled heat pumps at 2 false positives.</a:t>
            </a:r>
          </a:p>
          <a:p>
            <a:r>
              <a:rPr sz="850">
                <a:solidFill>
                  <a:srgbClr val="11111A"/>
                </a:solidFill>
              </a:rPr>
              <a:t>•  Label 0 is subsidy-register-unlabelled, not verified heat-pump-absent, so accuracy is a floor estimate.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589788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950">
                <a:solidFill>
                  <a:srgbClr val="2A78D6"/>
                </a:solidFill>
              </a:rPr>
              <a:t>Population check vs GWR</a:t>
            </a:r>
          </a:p>
          <a:p>
            <a:r>
              <a:rPr sz="850">
                <a:solidFill>
                  <a:srgbClr val="11111A"/>
                </a:solidFill>
              </a:rPr>
              <a:t>At the GWR rate (31% of AG residential buildings) the score ranks postcodes with Spearman ρ=0.39 (n=78), but the accuracy-optimal threshold flags 2.7× too many households — rank is usable, absolute calibration is not.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