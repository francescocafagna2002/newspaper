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architecture</a:t>
            </a:r>
          </a:p>
          <a:p>
            <a:r>
              <a:rPr sz="1200">
                <a:solidFill>
                  <a:srgbClr val="52514E"/>
                </a:solidFill>
              </a:rPr>
              <a:t>Per-household P(rooftop PV) from 15-min grid-import readings (OBIS 1.29 only)</a:t>
            </a:r>
          </a:p>
        </p:txBody>
      </p:sp>
      <p:pic>
        <p:nvPicPr>
          <p:cNvPr id="3" name="Picture 2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4554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1111A"/>
                </a:solidFill>
              </a:rPr>
              <a:t>•  Positive–Unlabeled (no confirmed non-PV households) · GBDT · 5-fold CV · Elkan–Noto correction · calibrated to the 12 % ElPA base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features</a:t>
            </a:r>
          </a:p>
          <a:p>
            <a:r>
              <a:rPr sz="1200">
                <a:solidFill>
                  <a:srgbClr val="52514E"/>
                </a:solidFill>
              </a:rPr>
              <a:t>23 features from the grid-import load shape; feed-in register used offline only</a:t>
            </a:r>
          </a:p>
        </p:txBody>
      </p:sp>
      <p:pic>
        <p:nvPicPr>
          <p:cNvPr id="3" name="Picture 2" descr="fig_feature_s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492240" cy="3104984"/>
          </a:xfrm>
          <a:prstGeom prst="rect">
            <a:avLst/>
          </a:prstGeom>
        </p:spPr>
      </p:pic>
      <p:pic>
        <p:nvPicPr>
          <p:cNvPr id="4" name="Picture 3" descr="fig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463040"/>
            <a:ext cx="4892040" cy="2446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43434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Feature groups</a:t>
            </a:r>
          </a:p>
          <a:p>
            <a:r>
              <a:rPr sz="1050">
                <a:solidFill>
                  <a:srgbClr val="11111A"/>
                </a:solidFill>
              </a:rPr>
              <a:t>•  Midday depression / duck curve</a:t>
            </a:r>
          </a:p>
          <a:p>
            <a:r>
              <a:rPr sz="1050">
                <a:solidFill>
                  <a:srgbClr val="11111A"/>
                </a:solidFill>
              </a:rPr>
              <a:t>•  Weather–solar coupling (MeteoSwiss radiation)</a:t>
            </a:r>
          </a:p>
          <a:p>
            <a:r>
              <a:rPr sz="1050">
                <a:solidFill>
                  <a:srgbClr val="11111A"/>
                </a:solidFill>
              </a:rPr>
              <a:t>•  Seasonality · load level · night base load</a:t>
            </a:r>
          </a:p>
          <a:p>
            <a:r>
              <a:rPr sz="1050">
                <a:solidFill>
                  <a:srgbClr val="11111A"/>
                </a:solidFill>
              </a:rPr>
              <a:t>•  Year-on-year change-point (new installs)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806440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A78D6"/>
                </a:solidFill>
              </a:rPr>
              <a:t>Sources</a:t>
            </a:r>
          </a:p>
          <a:p>
            <a:r>
              <a:rPr sz="900">
                <a:solidFill>
                  <a:srgbClr val="52514E"/>
                </a:solidFill>
              </a:rPr>
              <a:t>Duck-curve midday depression — NREL, Denholm et al. 2015   ·   Weather–solar coupling — SunDance, Chen &amp; Irwin, ACM e-Energy 2017   ·   Net-load + weather-status ML detection — Electricity Journal 2022</a:t>
            </a:r>
          </a:p>
          <a:p>
            <a:r>
              <a:rPr sz="900">
                <a:solidFill>
                  <a:srgbClr val="52514E"/>
                </a:solidFill>
              </a:rPr>
              <a:t>Weather — MeteoSwiss SwissMetNet open data   ·   Base rate — BFE ElPA register   ·   Method — challenge label-first approach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the dominant signal</a:t>
            </a:r>
          </a:p>
          <a:p>
            <a:r>
              <a:rPr sz="1200">
                <a:solidFill>
                  <a:srgbClr val="52514E"/>
                </a:solidFill>
              </a:rPr>
              <a:t>When PV covers the load, net grid-import falls to ~zero during the day</a:t>
            </a:r>
          </a:p>
        </p:txBody>
      </p:sp>
      <p:pic>
        <p:nvPicPr>
          <p:cNvPr id="3" name="Picture 2" descr="fig_top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7498079" cy="39516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6968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11A"/>
                </a:solidFill>
              </a:rPr>
              <a:t>•  PV homes: most summer daytime intervals near zero net import</a:t>
            </a:r>
          </a:p>
          <a:p>
            <a:r>
              <a:rPr sz="1100">
                <a:solidFill>
                  <a:srgbClr val="11111A"/>
                </a:solidFill>
              </a:rPr>
              <a:t>•  Rest: daytime import stays well above zero</a:t>
            </a:r>
          </a:p>
          <a:p>
            <a:r>
              <a:rPr sz="1100">
                <a:solidFill>
                  <a:srgbClr val="11111A"/>
                </a:solidFill>
              </a:rPr>
              <a:t>•  This one feature, trained the same way, gives ROC-AUC 0.90 (recall 0.87) — the other 22 add ~2–3 points and sharper probabilities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results vs baselines</a:t>
            </a:r>
          </a:p>
          <a:p>
            <a:r>
              <a:rPr sz="1200">
                <a:solidFill>
                  <a:srgbClr val="52514E"/>
                </a:solidFill>
              </a:rPr>
              <a:t>5-fold out-of-fold; held-out GIGI positives as ground truth. PU-adjusted: ranking reliable, absolute calibration approximate.</a:t>
            </a:r>
          </a:p>
        </p:txBody>
      </p:sp>
      <p:pic>
        <p:nvPicPr>
          <p:cNvPr id="3" name="Picture 2" descr="fig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98079" y="1554480"/>
          <a:ext cx="4389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Recall@0.5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Flag-rate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Random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0.12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Heuristic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1 feature (daytime-zero)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0.08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78D6"/>
                          </a:solidFill>
                        </a:rPr>
                        <a:t>Full model (23 feat.)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0.07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402336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1111A"/>
                </a:solidFill>
              </a:rPr>
              <a:t>•  Flags 7% of the population (ElPA base rate ≈ 12 %) and catches 92% of held-out known PV homes.</a:t>
            </a:r>
          </a:p>
          <a:p>
            <a:r>
              <a:rPr sz="1050">
                <a:solidFill>
                  <a:srgbClr val="11111A"/>
                </a:solidFill>
              </a:rPr>
              <a:t>•  Confusion matrix (right): GIGI-confirmed PV vs strictly unlabelled households; ~6.2k silver feed-in-derived positives excluded from both classes so they don't skew the negative pool.</a:t>
            </a:r>
          </a:p>
          <a:p>
            <a:r>
              <a:rPr sz="1050">
                <a:solidFill>
                  <a:srgbClr val="11111A"/>
                </a:solidFill>
              </a:rPr>
              <a:t>•  Weak spots: geographic agreement with the PV register modest (ρ≈0.1); change-point feature does not track install dates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EV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LightGBM (E22_lgbm_total, all-net-load features) · held-out test, n=67 properties, 15 GIGI-labelled EV</a:t>
            </a:r>
          </a:p>
        </p:txBody>
      </p:sp>
      <p:pic>
        <p:nvPicPr>
          <p:cNvPr id="3" name="Picture 2" descr="fig_e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45 features: annual load aggregates + 24-hr mean hourly profile + windowed multi-meter context (heat-pump-like meters, winter-dominance) for the property</a:t>
            </a:r>
          </a:p>
          <a:p>
            <a:r>
              <a:rPr sz="1050">
                <a:solidFill>
                  <a:srgbClr val="11111A"/>
                </a:solidFill>
              </a:rPr>
              <a:t>•  Picked by validation PR-AUC among 9 candidates (dummy, 3 heuristic rules, 2 logistic, 2 gradient-boosted, LightGBM); threshold frozen on validation, refit on dev+val, test opened once</a:t>
            </a:r>
          </a:p>
          <a:p>
            <a:r>
              <a:rPr sz="1050">
                <a:solidFill>
                  <a:srgbClr val="11111A"/>
                </a:solidFill>
              </a:rPr>
              <a:t>•  Held-out test: ROC-AUC 0.67, recall 67%, precision 33% (n=67, prevalence 22% — small sample, wide CIs)</a:t>
            </a:r>
          </a:p>
          <a:p>
            <a:r>
              <a:rPr sz="1050">
                <a:solidFill>
                  <a:srgbClr val="11111A"/>
                </a:solidFill>
              </a:rPr>
              <a:t>•  Negative class is subsidy-register-unlabelled, not verified EV-absent — reported false-positive rate likely overstates the true one</a:t>
            </a:r>
          </a:p>
          <a:p>
            <a:r>
              <a:rPr sz="1050">
                <a:solidFill>
                  <a:srgbClr val="11111A"/>
                </a:solidFill>
              </a:rPr>
              <a:t>•  Post-hoc plateau-rescue / steep-slope heuristics tested on top of LightGBM and rejected (no test-set improvement); base model remains deployed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Battery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Evaluation is blocked before any score or confusion matrix exists</a:t>
            </a:r>
          </a:p>
        </p:txBody>
      </p:sp>
      <p:pic>
        <p:nvPicPr>
          <p:cNvPr id="3" name="Picture 2" descr="fig_batt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Design: reuses the PV pipeline's I/O + PU learner (Elkan–Noto); contrast is battery vs PV-without-battery, not vs the general population — 96% of GIGI battery households also have PV, so a population-wide model would just relearn “has PV”</a:t>
            </a:r>
          </a:p>
          <a:p>
            <a:r>
              <a:rPr sz="1050">
                <a:solidFill>
                  <a:srgbClr val="11111A"/>
                </a:solidFill>
              </a:rPr>
              <a:t>•  Intended feature families (literature-grounded, not yet scored): zero-import / flat-interval plateaus, feed-in shaping (delayed &amp; clipped export), ramp smoothing, evening-zero → step recovery, charge/discharge energy-balance check (η≈0.80–0.95)</a:t>
            </a:r>
          </a:p>
          <a:p>
            <a:r>
              <a:rPr sz="1050">
                <a:solidFill>
                  <a:srgbClr val="11111A"/>
                </a:solidFill>
              </a:rPr>
              <a:t>•  82 GIGI “no battery” households are a held-out audit set, never used as training negatives</a:t>
            </a:r>
          </a:p>
          <a:p>
            <a:r>
              <a:rPr sz="1050">
                <a:solidFill>
                  <a:srgbClr val="11111A"/>
                </a:solidFill>
              </a:rPr>
              <a:t>•  Universe gate (label-blind) requires ≥95% of known-battery households to show any export energy; current exports give 93.7% (208/222) — pipeline halted per spec rather than weakening the gate or fabricating a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