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Heat-pump boiler (WPB) — design &amp; status</a:t>
            </a:r>
          </a:p>
          <a:p>
            <a:r>
              <a:rPr sz="1200">
                <a:solidFill>
                  <a:srgbClr val="52514E"/>
                </a:solidFill>
              </a:rPr>
              <a:t>Label-free physical rule on 15-min grid import — no supervised classifier, so no confusion matrix</a:t>
            </a:r>
          </a:p>
        </p:txBody>
      </p:sp>
      <p:pic>
        <p:nvPicPr>
          <p:cNvPr id="3" name="Picture 2" descr="fig_wpb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A78D6"/>
                </a:solidFill>
              </a:rPr>
              <a:t>Takeaways</a:t>
            </a:r>
          </a:p>
          <a:p>
            <a:r>
              <a:rPr sz="1000">
                <a:solidFill>
                  <a:srgbClr val="11111A"/>
                </a:solidFill>
              </a:rPr>
              <a:t>•  Design: per meter-month p10 (10th-percentile) envelope across all days — a load must repeat on ≥90% of days to show up, which structurally rules out irregular loads like a part-time EV</a:t>
            </a:r>
          </a:p>
          <a:p>
            <a:r>
              <a:rPr sz="1000">
                <a:solidFill>
                  <a:srgbClr val="11111A"/>
                </a:solidFill>
              </a:rPr>
              <a:t>•  Plateau ≥0.25 kW above the quietest rolling hour; flagged only if amplitude 0.25–1.2 kW and duration 1.5–9 h (physical bands from COP≈3, not fit to labels), and it must reappear in both January and July to reject seasonal confounders (dehumidifiers, floor heating, part-load heat pumps)</a:t>
            </a:r>
          </a:p>
          <a:p>
            <a:r>
              <a:rPr sz="1000">
                <a:solidFill>
                  <a:srgbClr val="11111A"/>
                </a:solidFill>
              </a:rPr>
              <a:t>•  Only 4 GIGI-labelled households have meter data and zero are confirmed negatives, so precision, recall, ROC-AUC and accuracy cannot be estimated (WPB_REPORT.md)</a:t>
            </a:r>
          </a:p>
          <a:p>
            <a:r>
              <a:rPr sz="1000">
                <a:solidFill>
                  <a:srgbClr val="11111A"/>
                </a:solidFill>
              </a:rPr>
              <a:t>•  Closest available validation (left): inject a real resistance boiler's energy at WPB power/duration into 150 real households per amplitude and see if the rule recovers it — recall only, no negatives tested</a:t>
            </a:r>
          </a:p>
          <a:p>
            <a:r>
              <a:rPr sz="1000">
                <a:solidFill>
                  <a:srgbClr val="11111A"/>
                </a:solidFill>
              </a:rPr>
              <a:t>•  838 of 75,094 households flagged (1.1%); rank correlation with the BFS building register is weak and inconsistent (ρ=+0.27, p=0.03 at ≥100 meters/postcode; ρ=+0.12, p=0.30 at ≥30) — not a validation, just the same order of magnitude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